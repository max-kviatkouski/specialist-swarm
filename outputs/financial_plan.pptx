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462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8FB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A2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9AA7B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Employer single stock (RSU)</c:v>
                </c:pt>
                <c:pt idx="1">
                  <c:v>US equity (diversified)</c:v>
                </c:pt>
                <c:pt idx="2">
                  <c:v>International equity</c:v>
                </c:pt>
                <c:pt idx="3">
                  <c:v>Bonds</c:v>
                </c:pt>
                <c:pt idx="4">
                  <c:v>Cash / money market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39.8</c:v>
                </c:pt>
                <c:pt idx="2">
                  <c:v>7.8</c:v>
                </c:pt>
                <c:pt idx="3">
                  <c:v>8.4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8FB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FA8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5462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9AA7B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US equity (diversified)</c:v>
                </c:pt>
                <c:pt idx="1">
                  <c:v>International equity</c:v>
                </c:pt>
                <c:pt idx="2">
                  <c:v>Bonds</c:v>
                </c:pt>
                <c:pt idx="3">
                  <c:v>Alternatives / real assets (REIT, TIPS)</c:v>
                </c:pt>
                <c:pt idx="4">
                  <c:v>Employer single stock (RSU)</c:v>
                </c:pt>
                <c:pt idx="5">
                  <c:v>Cash / money market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</c:v>
                </c:pt>
                <c:pt idx="1">
                  <c:v>18</c:v>
                </c:pt>
                <c:pt idx="2">
                  <c:v>22</c:v>
                </c:pt>
                <c:pt idx="3">
                  <c:v>10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(9%)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1432500</c:v>
                </c:pt>
                <c:pt idx="1">
                  <c:v>1631425</c:v>
                </c:pt>
                <c:pt idx="2">
                  <c:v>1848253</c:v>
                </c:pt>
                <c:pt idx="3">
                  <c:v>2084596</c:v>
                </c:pt>
                <c:pt idx="4">
                  <c:v>2342210</c:v>
                </c:pt>
                <c:pt idx="5">
                  <c:v>2623009</c:v>
                </c:pt>
                <c:pt idx="6">
                  <c:v>2929080</c:v>
                </c:pt>
                <c:pt idx="7">
                  <c:v>3262697</c:v>
                </c:pt>
                <c:pt idx="8">
                  <c:v>3626340</c:v>
                </c:pt>
                <c:pt idx="9">
                  <c:v>4022711</c:v>
                </c:pt>
                <c:pt idx="10">
                  <c:v>4454755</c:v>
                </c:pt>
                <c:pt idx="11">
                  <c:v>4925683</c:v>
                </c:pt>
                <c:pt idx="12">
                  <c:v>5439994</c:v>
                </c:pt>
                <c:pt idx="13">
                  <c:v>5999593</c:v>
                </c:pt>
                <c:pt idx="14">
                  <c:v>6609556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(6.5%)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1401250</c:v>
                </c:pt>
                <c:pt idx="1">
                  <c:v>1562331</c:v>
                </c:pt>
                <c:pt idx="2">
                  <c:v>1733882</c:v>
                </c:pt>
                <c:pt idx="3">
                  <c:v>1916584</c:v>
                </c:pt>
                <c:pt idx="4">
                  <c:v>2110162</c:v>
                </c:pt>
                <c:pt idx="5">
                  <c:v>2317322</c:v>
                </c:pt>
                <c:pt idx="6">
                  <c:v>2537948</c:v>
                </c:pt>
                <c:pt idx="7">
                  <c:v>2772914</c:v>
                </c:pt>
                <c:pt idx="8">
                  <c:v>3023153</c:v>
                </c:pt>
                <c:pt idx="9">
                  <c:v>3289658</c:v>
                </c:pt>
                <c:pt idx="10">
                  <c:v>3573486</c:v>
                </c:pt>
                <c:pt idx="11">
                  <c:v>3875762</c:v>
                </c:pt>
                <c:pt idx="12">
                  <c:v>4197687</c:v>
                </c:pt>
                <c:pt idx="13">
                  <c:v>4540537</c:v>
                </c:pt>
                <c:pt idx="14">
                  <c:v>4905672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 (4%)</c:v>
                </c:pt>
              </c:strCache>
            </c:strRef>
          </c:tx>
          <c:spPr>
            <a:solidFill>
              <a:srgbClr val="8794A1"/>
            </a:solidFill>
            <a:ln w="38100" cap="flat">
              <a:solidFill>
                <a:srgbClr val="8794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94A1"/>
              </a:solidFill>
              <a:ln w="9525" cap="flat">
                <a:solidFill>
                  <a:srgbClr val="8794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1370000</c:v>
                </c:pt>
                <c:pt idx="1">
                  <c:v>1494800</c:v>
                </c:pt>
                <c:pt idx="2">
                  <c:v>1624592</c:v>
                </c:pt>
                <c:pt idx="3">
                  <c:v>1759576</c:v>
                </c:pt>
                <c:pt idx="4">
                  <c:v>1899959</c:v>
                </c:pt>
                <c:pt idx="5">
                  <c:v>2045957</c:v>
                </c:pt>
                <c:pt idx="6">
                  <c:v>2197795</c:v>
                </c:pt>
                <c:pt idx="7">
                  <c:v>2355707</c:v>
                </c:pt>
                <c:pt idx="8">
                  <c:v>2519935</c:v>
                </c:pt>
                <c:pt idx="9">
                  <c:v>2690732</c:v>
                </c:pt>
                <c:pt idx="10">
                  <c:v>2868361</c:v>
                </c:pt>
                <c:pt idx="11">
                  <c:v>3053095</c:v>
                </c:pt>
                <c:pt idx="12">
                  <c:v>3245219</c:v>
                </c:pt>
                <c:pt idx="13">
                  <c:v>3445028</c:v>
                </c:pt>
                <c:pt idx="14">
                  <c:v>3652829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82880"/>
            <a:ext cx="3108960" cy="310896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297680"/>
            <a:ext cx="4023360" cy="4023360"/>
          </a:xfrm>
          <a:prstGeom prst="ellipse">
            <a:avLst/>
          </a:prstGeom>
          <a:solidFill>
            <a:srgbClr val="2E8FB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WEALTH ADVISORY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529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Financial Plan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E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Sharma Household — Anand &amp; Priya Sharma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(46) &amp; Priya (44) · California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4108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Wealth Advisor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85232"/>
            <a:ext cx="10058400" cy="0"/>
          </a:xfrm>
          <a:prstGeom prst="line">
            <a:avLst/>
          </a:prstGeom>
          <a:noFill/>
          <a:ln w="12700">
            <a:solidFill>
              <a:srgbClr val="3044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81328"/>
            <a:ext cx="11094415" cy="815645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6055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60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1536192"/>
            <a:ext cx="10042855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RISKS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foundation, two structural risks: dual ~$420K income, $1.25M investable at ages 46/44, a funded 6-month reserve and a cheap 3.1% fixed mortgage — offset by a 34% single-employer-stock concentration and ~10% idle cash.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1565"/>
            <a:ext cx="11094415" cy="815645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64078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64078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9888" y="2516429"/>
            <a:ext cx="10042855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POSTURE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set at Moderate Growth: high financial capacity (78) is deliberately throttled to behavioral tolerance (54) after a documented prior panic-sell. A written IPS, ±5% rebalancing bands and goal-linked glidepaths bridge the gap.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41802"/>
            <a:ext cx="11094415" cy="815645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210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3496666"/>
            <a:ext cx="10042855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Human-capital concentration disclosed: Anand's salary and the 34% employer stock are the SAME employer, so a company downturn would hit income and ~one-third of the portfolio together. Diversify the RSU position promptly on a fixed, tax-aware 10b5-1 schedule — never market-timed.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22038"/>
            <a:ext cx="11094415" cy="815645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601261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6012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9888" y="4476902"/>
            <a:ext cx="10042855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(~$4.5M real / ~$6.8M nominal at 2040) is ~53% funded after goal draws. Estimated probability of fully funding the $180K/yr (real) spend is ~50–65% on the current path, rising to ~75–85% with higher savings plus diversification (illustrative ranges, not guarantees).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02275"/>
            <a:ext cx="11094415" cy="815645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558149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5814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89888" y="5457139"/>
            <a:ext cx="10042855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OF ACTION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private-college goals are underfunded — open a second 529 immediately; the vacation home is ~89% funded. Redeploy excess cash, lift international (7.8%→18%) and add a real-assets sleeve, keep bonds short-to-intermediate, and close the insurance/estate gaps (disability, umbrella, living trust).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Wellbeing &amp; Risk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224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9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WELLBEING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algn="ctr" indent="0" marL="0">
              <a:buNone/>
            </a:pPr>
            <a:r>
              <a:rPr lang="en-US" sz="2600" dirty="0">
                <a:solidFill>
                  <a:srgbClr val="2E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1051560" y="388620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— with gaps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base, fixable gaps.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Concentration, cash drag and underfunded college goals are the score's main drags — all addressable.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572768"/>
            <a:ext cx="7025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Band:  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760720" y="1883664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883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679192"/>
            <a:ext cx="7025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(ability to take risk)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2953512"/>
            <a:ext cx="5928055" cy="384048"/>
          </a:xfrm>
          <a:prstGeom prst="roundRect">
            <a:avLst>
              <a:gd name="adj" fmla="val 19048"/>
            </a:avLst>
          </a:prstGeom>
          <a:solidFill>
            <a:srgbClr val="E1E7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2953512"/>
            <a:ext cx="4623883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539935" y="2953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7025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(willingness to take risk)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3794760"/>
            <a:ext cx="5928055" cy="384048"/>
          </a:xfrm>
          <a:prstGeom prst="roundRect">
            <a:avLst>
              <a:gd name="adj" fmla="val 19048"/>
            </a:avLst>
          </a:prstGeom>
          <a:solidFill>
            <a:srgbClr val="E1E7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794760"/>
            <a:ext cx="3201150" cy="384048"/>
          </a:xfrm>
          <a:prstGeom prst="roundRect">
            <a:avLst>
              <a:gd name="adj" fmla="val 19048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9539935" y="3794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617720" y="4480560"/>
            <a:ext cx="7025335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4617720"/>
            <a:ext cx="65681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(78) deliberately throttled to tolerance (54).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past panic-sell to cash, we anchor to the lower score and add guardrails — a written IPS with a ~20% “do-not-sell” covenant, ±5% rebalancing bands, and goal-linked glidepaths — to bridge the gap without leaving return on the table.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Allocation: Current → Target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91640"/>
          <a:ext cx="3017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5156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stock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7947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703320" y="1691640"/>
          <a:ext cx="3017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29768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≤8%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stock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43068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" y="4270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equity (diversified)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4306824"/>
            <a:ext cx="146304" cy="146304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15" name="Text 11"/>
          <p:cNvSpPr/>
          <p:nvPr/>
        </p:nvSpPr>
        <p:spPr>
          <a:xfrm>
            <a:off x="3968496" y="4270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equity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58114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3"/>
          <p:cNvSpPr/>
          <p:nvPr/>
        </p:nvSpPr>
        <p:spPr>
          <a:xfrm>
            <a:off x="768096" y="4544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49040" y="4581144"/>
            <a:ext cx="146304" cy="146304"/>
          </a:xfrm>
          <a:prstGeom prst="ellipse">
            <a:avLst/>
          </a:prstGeom>
          <a:solidFill>
            <a:srgbClr val="6FA8A0"/>
          </a:solidFill>
          <a:ln/>
        </p:spPr>
      </p:sp>
      <p:sp>
        <p:nvSpPr>
          <p:cNvPr id="19" name="Text 15"/>
          <p:cNvSpPr/>
          <p:nvPr/>
        </p:nvSpPr>
        <p:spPr>
          <a:xfrm>
            <a:off x="3968496" y="4544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/ real assets (REIT, TIPS)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4855464"/>
            <a:ext cx="146304" cy="146304"/>
          </a:xfrm>
          <a:prstGeom prst="ellipse">
            <a:avLst/>
          </a:prstGeom>
          <a:solidFill>
            <a:srgbClr val="B5462F"/>
          </a:solidFill>
          <a:ln/>
        </p:spPr>
      </p:sp>
      <p:sp>
        <p:nvSpPr>
          <p:cNvPr id="21" name="Text 17"/>
          <p:cNvSpPr/>
          <p:nvPr/>
        </p:nvSpPr>
        <p:spPr>
          <a:xfrm>
            <a:off x="768096" y="4818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single stock (RSU)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749040" y="4855464"/>
            <a:ext cx="146304" cy="146304"/>
          </a:xfrm>
          <a:prstGeom prst="ellipse">
            <a:avLst/>
          </a:prstGeom>
          <a:solidFill>
            <a:srgbClr val="9AA7B2"/>
          </a:solidFill>
          <a:ln/>
        </p:spPr>
      </p:sp>
      <p:sp>
        <p:nvSpPr>
          <p:cNvPr id="23" name="Text 19"/>
          <p:cNvSpPr/>
          <p:nvPr/>
        </p:nvSpPr>
        <p:spPr>
          <a:xfrm>
            <a:off x="3968496" y="4818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money market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223760" y="1481328"/>
            <a:ext cx="4419295" cy="4617720"/>
          </a:xfrm>
          <a:prstGeom prst="roundRect">
            <a:avLst>
              <a:gd name="adj" fmla="val 1448"/>
            </a:avLst>
          </a:prstGeom>
          <a:solidFill>
            <a:srgbClr val="1224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498080" y="1664208"/>
            <a:ext cx="3870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516368" y="2057400"/>
            <a:ext cx="385236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employer stock 34% → ≤8% over ~4 quarters via a 10b5-1 plan — never market-timed.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cash drag: keep the reserve, ladder the vacation-home cash, DCA the rest over 6–9 months.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international equity 7.8% → 18%, rebalancing inside the 401(k) first.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10% real-assets sleeve (REIT / TIPS) in tax-advantaged accounts.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bonds 8.4% → 22% (short–intermediate), gliding up from 2033.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FUNDING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Funding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5410048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048" y="1737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5462F"/>
          </a:solidFill>
          <a:ln/>
        </p:spPr>
      </p:sp>
      <p:sp>
        <p:nvSpPr>
          <p:cNvPr id="8" name="Text 6"/>
          <p:cNvSpPr/>
          <p:nvPr/>
        </p:nvSpPr>
        <p:spPr>
          <a:xfrm>
            <a:off x="4267048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358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 at 60 (2040) — $180K/yr in today's dollars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2040  ·  $6.81M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4861408" cy="310896"/>
          </a:xfrm>
          <a:prstGeom prst="roundRect">
            <a:avLst>
              <a:gd name="adj" fmla="val 20588"/>
            </a:avLst>
          </a:prstGeom>
          <a:solidFill>
            <a:srgbClr val="E1E7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43200"/>
            <a:ext cx="2576546" cy="310896"/>
          </a:xfrm>
          <a:prstGeom prst="roundRect">
            <a:avLst>
              <a:gd name="adj" fmla="val 2058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funded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3664" y="3108960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~$1.9M–$3.2M nominal across mid-to-low scenarios after goal draws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01568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both 401(k)s and add dual backdoor Roth (+ mega-backdoor if Anand's plan allows); raise total savings toward $90–105K/yr. Diversifying the RSU funds retirement and college simultaneously.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1517904"/>
            <a:ext cx="5410048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51415" y="1737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5462F"/>
          </a:solidFill>
          <a:ln/>
        </p:spPr>
      </p:sp>
      <p:sp>
        <p:nvSpPr>
          <p:cNvPr id="18" name="Text 16"/>
          <p:cNvSpPr/>
          <p:nvPr/>
        </p:nvSpPr>
        <p:spPr>
          <a:xfrm>
            <a:off x="9951415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07328" y="1719072"/>
            <a:ext cx="358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4-year private university — elder child (matriculates ~2032)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7328" y="235915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2032  ·  $0.55M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07328" y="2743200"/>
            <a:ext cx="4861408" cy="310896"/>
          </a:xfrm>
          <a:prstGeom prst="roundRect">
            <a:avLst>
              <a:gd name="adj" fmla="val 20588"/>
            </a:avLst>
          </a:prstGeom>
          <a:solidFill>
            <a:srgbClr val="E1E7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7328" y="2743200"/>
            <a:ext cx="631983" cy="310896"/>
          </a:xfrm>
          <a:prstGeom prst="roundRect">
            <a:avLst>
              <a:gd name="adj" fmla="val 20588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3108960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funded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38031" y="3108960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~$478K over 6 years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07328" y="3401568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the existing 529 to $18–20K/yr (grows to ~$210K, ~38% coverage); bridge the remainder from taxable/RSU proceeds — do not raid retirement.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5410048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67048" y="426110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5462F"/>
          </a:solidFill>
          <a:ln/>
        </p:spPr>
      </p:sp>
      <p:sp>
        <p:nvSpPr>
          <p:cNvPr id="28" name="Text 26"/>
          <p:cNvSpPr/>
          <p:nvPr/>
        </p:nvSpPr>
        <p:spPr>
          <a:xfrm>
            <a:off x="4267048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4242816"/>
            <a:ext cx="358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4-year private university — younger child (matriculates ~2035)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2960" y="4882896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2035  ·  $0.64M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5266944"/>
            <a:ext cx="4861408" cy="310896"/>
          </a:xfrm>
          <a:prstGeom prst="roundRect">
            <a:avLst>
              <a:gd name="adj" fmla="val 20588"/>
            </a:avLst>
          </a:prstGeom>
          <a:solidFill>
            <a:srgbClr val="E1E7E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632704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funded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53664" y="5632704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~$635K over 9 years; no 529 opened yet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5925312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529 immediately and consider superfunding (5-year gift election); fund ~$15K/yr (grows to ~$200K) and cover the remainder from taxable/RSU proceeds.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33008" y="4041648"/>
            <a:ext cx="5410048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951415" y="426110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7" name="Text 35"/>
          <p:cNvSpPr/>
          <p:nvPr/>
        </p:nvSpPr>
        <p:spPr>
          <a:xfrm>
            <a:off x="9951415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07328" y="4242816"/>
            <a:ext cx="358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Vacation-home down payment (~2034)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507328" y="4882896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2034  ·  $0.20M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328" y="5266944"/>
            <a:ext cx="4861408" cy="310896"/>
          </a:xfrm>
          <a:prstGeom prst="roundRect">
            <a:avLst>
              <a:gd name="adj" fmla="val 20588"/>
            </a:avLst>
          </a:prstGeom>
          <a:solidFill>
            <a:srgbClr val="E1E7EC"/>
          </a:solidFill>
          <a:ln/>
        </p:spPr>
      </p:sp>
      <p:sp>
        <p:nvSpPr>
          <p:cNvPr id="41" name="Shape 39"/>
          <p:cNvSpPr/>
          <p:nvPr/>
        </p:nvSpPr>
        <p:spPr>
          <a:xfrm>
            <a:off x="6507328" y="5266944"/>
            <a:ext cx="4326653" cy="310896"/>
          </a:xfrm>
          <a:prstGeom prst="roundRect">
            <a:avLst>
              <a:gd name="adj" fmla="val 20588"/>
            </a:avLst>
          </a:prstGeom>
          <a:solidFill>
            <a:srgbClr val="2E7D5B"/>
          </a:solidFill>
          <a:ln/>
        </p:spPr>
      </p:sp>
      <p:sp>
        <p:nvSpPr>
          <p:cNvPr id="42" name="Text 40"/>
          <p:cNvSpPr/>
          <p:nvPr/>
        </p:nvSpPr>
        <p:spPr>
          <a:xfrm>
            <a:off x="6507328" y="5632704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funded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38031" y="5632704"/>
            <a:ext cx="243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~$22K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07328" y="5925312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Earmark the $125K cash into an 8-year CD/HYSA ladder and add ~$3K/yr; this also removes the cash-drag penalty on the portfolio.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 Projection to 2040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572768"/>
            <a:ext cx="341345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85632" y="1700784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2040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67344" y="1883664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$6.8M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485632" y="2377440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$4.5M in today's dollars ($180K/yr)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0" y="2816352"/>
            <a:ext cx="341345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85632" y="2944368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MID-PATH BALANCE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67344" y="3127248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$4.9M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85632" y="3621024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of target before goal draws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059936"/>
            <a:ext cx="341345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85632" y="4187952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AFTER GOALS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67344" y="4370832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485632" y="4864608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~$1.9M–$3.2M (scenario range)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229600" y="5321808"/>
            <a:ext cx="3413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success: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~50–65% on today's path → ~75–85% with higher savings + diversification. Illustrative ranges, not guarantees.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17904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MOVES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8816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8816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17904" y="1920240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the employer single-stock concentration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34%→≤8% via 10b5-1; tax-aware, not timed.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1582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636085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36085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17904" y="2568158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cash drag and deploy idle cash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reserve; deploy excess cash over 6–9 mo.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79499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28400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8400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17904" y="3216075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diversification: international + real assets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7.8%→18% + a 10% real-assets sleeve.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27417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93192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93192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17904" y="3863993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written Investment Policy Statement with behavioral guardrails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IPS: drawdown covenant, ±5% bands, glidepaths.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75335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57983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57983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17904" y="4511911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second 529 and boost college funding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2nd 529 now; boost college funding.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23253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5227755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227755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17904" y="5159829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tax-advantaged savings and raise the savings rate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401(k)s + backdoor Roth; save $90–105K/yr.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771170"/>
            <a:ext cx="5364328" cy="519902"/>
          </a:xfrm>
          <a:prstGeom prst="roundRect">
            <a:avLst>
              <a:gd name="adj" fmla="val 87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5875673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875673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517904" y="5807746"/>
            <a:ext cx="4267048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insurance gap: disability + umbrella liability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Own-occ disability + umbrella; keep term life.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8728" y="1517904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78728" y="1883664"/>
            <a:ext cx="536432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3320" y="22311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4332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247992" y="1920240"/>
            <a:ext cx="4267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asset location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location: bonds in 401(k), growth in Roth.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8728" y="3017520"/>
            <a:ext cx="536432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3320" y="33649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6443320" y="33649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47992" y="3054096"/>
            <a:ext cx="4267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core estate documents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trust, wills, guardians, beneficiaries.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8728" y="4151376"/>
            <a:ext cx="536432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43320" y="44988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6443320" y="44988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47992" y="4187952"/>
            <a:ext cx="4267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bonds short-to-intermediate; begin glidepath in 2033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Short–intermediate bonds; glidepath from 2033.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78728" y="5285232"/>
            <a:ext cx="536432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3320" y="5632704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6443320" y="56327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247992" y="5321808"/>
            <a:ext cx="4267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vacation-home down payment via a laddered, capital-stable vehicle  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the vacation-home cash; add ~$3K/yr.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BACKDROP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Context &amp; Tactical Tilts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32159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1524183" y="457200"/>
            <a:ext cx="146304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4937760" cy="4572000"/>
          </a:xfrm>
          <a:prstGeom prst="roundRect">
            <a:avLst>
              <a:gd name="adj" fmla="val 1400"/>
            </a:avLst>
          </a:prstGeom>
          <a:solidFill>
            <a:srgbClr val="1224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  ·  2026-06-23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4389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late June 2026, US large-cap equities are richly valued but directionless: the S&amp;P 500 is roughly flat YTD while the Shiller CAPE sits near 40 (about 25% above its long-term average), compressing forward returns for mega-cap tech. The Fed (under Chair Warsh) held at 3.50–3.75% on June 17 with a higher dot plot and real hike risk as inflation forecasts rose; the 10-year Treasury is ~4.5% and bond total returns are near zero YTD. International equities continue to outperform (ex-US ~+9% YTD, ~+31% trailing 12 months) on a weaker dollar and cheaper valuations, and long-run return projections favor international over 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736592"/>
            <a:ext cx="994410" cy="1078992"/>
          </a:xfrm>
          <a:prstGeom prst="roundRect">
            <a:avLst>
              <a:gd name="adj" fmla="val 5517"/>
            </a:avLst>
          </a:prstGeom>
          <a:solidFill>
            <a:srgbClr val="1B35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901184"/>
            <a:ext cx="99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5358384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54530" y="4736592"/>
            <a:ext cx="994410" cy="1078992"/>
          </a:xfrm>
          <a:prstGeom prst="roundRect">
            <a:avLst>
              <a:gd name="adj" fmla="val 5517"/>
            </a:avLst>
          </a:prstGeom>
          <a:solidFill>
            <a:srgbClr val="1B3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954530" y="4901184"/>
            <a:ext cx="99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~4.5%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54530" y="5358384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UST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86100" y="4736592"/>
            <a:ext cx="994410" cy="1078992"/>
          </a:xfrm>
          <a:prstGeom prst="roundRect">
            <a:avLst>
              <a:gd name="adj" fmla="val 5517"/>
            </a:avLst>
          </a:prstGeom>
          <a:solidFill>
            <a:srgbClr val="1B3550"/>
          </a:solidFill>
          <a:ln/>
        </p:spPr>
      </p:sp>
      <p:sp>
        <p:nvSpPr>
          <p:cNvPr id="16" name="Text 14"/>
          <p:cNvSpPr/>
          <p:nvPr/>
        </p:nvSpPr>
        <p:spPr>
          <a:xfrm>
            <a:off x="3086100" y="4901184"/>
            <a:ext cx="99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3.50–3.75%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86100" y="5358384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17670" y="4736592"/>
            <a:ext cx="994410" cy="1078992"/>
          </a:xfrm>
          <a:prstGeom prst="roundRect">
            <a:avLst>
              <a:gd name="adj" fmla="val 5517"/>
            </a:avLst>
          </a:prstGeom>
          <a:solidFill>
            <a:srgbClr val="1B3550"/>
          </a:solidFill>
          <a:ln/>
        </p:spPr>
      </p:sp>
      <p:sp>
        <p:nvSpPr>
          <p:cNvPr id="19" name="Text 17"/>
          <p:cNvSpPr/>
          <p:nvPr/>
        </p:nvSpPr>
        <p:spPr>
          <a:xfrm>
            <a:off x="4217670" y="4901184"/>
            <a:ext cx="99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~+31%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217670" y="5358384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TTM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1517904"/>
            <a:ext cx="5745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TILTS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97880" y="1883664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2026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2026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11112" y="1883664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Dollar-cost the idle cash into diversified equities over 6–9 months.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97880" y="2663952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07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11112" y="2663952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US equity away from mega-cap tech so RSU proceeds don't re-concentrate.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97880" y="3444240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587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587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11112" y="3444240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international / EM tilt (~20–25% of the equity sleeve).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97880" y="4224528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43677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4367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11112" y="4224528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bonds short–intermediate (2–5yr Treasuries + TIPS) until rates resolve.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897880" y="5004816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51480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11112" y="5004816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California munis in taxable for higher after-tax yield.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897880" y="5785104"/>
            <a:ext cx="5745175" cy="6705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59283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5928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11112" y="5785104"/>
            <a:ext cx="484906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single-stock exit on its own fixed, tax-aware cadence — not on a market view.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Household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657600" cy="3657600"/>
          </a:xfrm>
          <a:prstGeom prst="ellipse">
            <a:avLst/>
          </a:prstGeom>
          <a:solidFill>
            <a:srgbClr val="C9A22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Verdict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16975" y="841248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8716975" y="8412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Compliance / Suitability Reviewer  ·  Consistent with the Reg BI best-interest standard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anchoring is correct: anchored to the lower tolerance score (54 → Moderate Growth) despite capacity 78, given the documented panic-sell/loss-aversion history — the best-interest call.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exit properly framed: 10b5-1, newest-vested-first, specific-lot ID, TLH, charitable gifting, explicit 'do not market-time' — textbook non-timed and tax-aware.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disclosed honestly: 'not on track,' explicit gaps, 0%/13% college funding, refusal to sacrifice retirement for private college — no overpromising.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shown as Low/Mid/High scenario bands with probability-of-success ranges and an explicit 'illustrative ranges, not guarantees' caveat — false-precision concern resolved.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Human-capital concentration disclosed: salary and the 34% employer stock share one employer (correlated downside), framed independently of the stock's outlook.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gap addressed: own-occupation LTD for both earners and umbrella ≥$2–3M added; term life retained.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12700">
            <a:solidFill>
              <a:srgbClr val="304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8978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7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Sharma Household for educational and illustrative purposes only; this is a synthetic demo with fictional persons and figures and is not individualized investment, tax, or legal advice. Projections are scenario-based estimates, not forecasts or guarantees; actual results will vary with markets, contributions, taxes, and personal circumstances. Implementation should be confirmed with the client's CPA and estate attorney, and any employer-stock sales coordinated with the company's insider-trading policy and a qualified tax professional. Investing involves risk, including loss of principal.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Sharma Household — Personalised Financial Plan</dc:title>
  <dc:subject>PptxGenJS Presentation</dc:subject>
  <dc:creator>Senior Wealth Advisor</dc:creator>
  <cp:lastModifiedBy>Senior Wealth Advisor</cp:lastModifiedBy>
  <cp:revision>1</cp:revision>
  <dcterms:created xsi:type="dcterms:W3CDTF">2026-06-23T22:14:26Z</dcterms:created>
  <dcterms:modified xsi:type="dcterms:W3CDTF">2026-06-23T22:14:26Z</dcterms:modified>
</cp:coreProperties>
</file>